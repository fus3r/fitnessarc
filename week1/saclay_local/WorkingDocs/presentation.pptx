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notesMasterIdLst>
    <p:notesMasterId r:id="rId12"/>
  </p:notesMasterIdLst>
  <p:sldIdLst>
    <p:sldId id="256" r:id="rId2"/>
    <p:sldId id="261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5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2E5D2B-4EBD-AF4D-AD6C-38A70AC5E8FC}" v="58" dt="2025-11-14T10:00:17.2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>
        <p:scale>
          <a:sx n="106" d="100"/>
          <a:sy n="106" d="100"/>
        </p:scale>
        <p:origin x="144" y="480"/>
      </p:cViewPr>
      <p:guideLst/>
    </p:cSldViewPr>
  </p:slideViewPr>
  <p:outlineViewPr>
    <p:cViewPr>
      <p:scale>
        <a:sx n="33" d="100"/>
        <a:sy n="33" d="100"/>
      </p:scale>
      <p:origin x="0" y="-740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78F210-C7C1-164D-BB3C-8CA248E38932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959839-6839-7942-94F2-689C7712386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03882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6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6333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A9400-39C6-68A6-9AFC-4D7F412C3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9B5B6-FD80-7C21-9571-52989E2E0E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D0112-5F60-34E9-713C-3C9889E4BF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FA64A-17FE-AFE1-298C-FF878EA0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7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003246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63328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40617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48248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93594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303486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17744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81776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28241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68493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86231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84515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107915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47699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0258625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1016463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453452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203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36068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20879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  <p:sldLayoutId id="2147483778" r:id="rId16"/>
    <p:sldLayoutId id="214748377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F5970798-6E1E-4DEE-050A-E95D3AABAD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42" t="13841" r="1" b="30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45F67A4-7428-47F3-AE14-8CA43D976E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95" name="Freeform 5">
            <a:extLst>
              <a:ext uri="{FF2B5EF4-FFF2-40B4-BE49-F238E27FC236}">
                <a16:creationId xmlns:a16="http://schemas.microsoft.com/office/drawing/2014/main" id="{F4A20210-FA90-4B6D-8D2E-1B90054E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5827529" y="660400"/>
            <a:ext cx="6381405" cy="6214533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39213B44-68B7-47E7-B506-5C79FCF80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81603" y="104899"/>
            <a:ext cx="6896713" cy="6005491"/>
          </a:xfrm>
          <a:custGeom>
            <a:avLst/>
            <a:gdLst>
              <a:gd name="connsiteX0" fmla="*/ 3912717 w 6896713"/>
              <a:gd name="connsiteY0" fmla="*/ 0 h 6005491"/>
              <a:gd name="connsiteX1" fmla="*/ 6679426 w 6896713"/>
              <a:gd name="connsiteY1" fmla="*/ 1146008 h 6005491"/>
              <a:gd name="connsiteX2" fmla="*/ 6896713 w 6896713"/>
              <a:gd name="connsiteY2" fmla="*/ 1385085 h 6005491"/>
              <a:gd name="connsiteX3" fmla="*/ 6896713 w 6896713"/>
              <a:gd name="connsiteY3" fmla="*/ 1431256 h 6005491"/>
              <a:gd name="connsiteX4" fmla="*/ 6657442 w 6896713"/>
              <a:gd name="connsiteY4" fmla="*/ 1167992 h 6005491"/>
              <a:gd name="connsiteX5" fmla="*/ 3912717 w 6896713"/>
              <a:gd name="connsiteY5" fmla="*/ 31089 h 6005491"/>
              <a:gd name="connsiteX6" fmla="*/ 31089 w 6896713"/>
              <a:gd name="connsiteY6" fmla="*/ 3912717 h 6005491"/>
              <a:gd name="connsiteX7" fmla="*/ 593046 w 6896713"/>
              <a:gd name="connsiteY7" fmla="*/ 5925483 h 6005491"/>
              <a:gd name="connsiteX8" fmla="*/ 633874 w 6896713"/>
              <a:gd name="connsiteY8" fmla="*/ 5989169 h 6005491"/>
              <a:gd name="connsiteX9" fmla="*/ 607415 w 6896713"/>
              <a:gd name="connsiteY9" fmla="*/ 6005491 h 6005491"/>
              <a:gd name="connsiteX10" fmla="*/ 566458 w 6896713"/>
              <a:gd name="connsiteY10" fmla="*/ 5941603 h 6005491"/>
              <a:gd name="connsiteX11" fmla="*/ 0 w 6896713"/>
              <a:gd name="connsiteY11" fmla="*/ 3912717 h 6005491"/>
              <a:gd name="connsiteX12" fmla="*/ 3912717 w 6896713"/>
              <a:gd name="connsiteY12" fmla="*/ 0 h 6005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96713" h="6005491">
                <a:moveTo>
                  <a:pt x="3912717" y="0"/>
                </a:moveTo>
                <a:cubicBezTo>
                  <a:pt x="4993184" y="0"/>
                  <a:pt x="5971363" y="437946"/>
                  <a:pt x="6679426" y="1146008"/>
                </a:cubicBezTo>
                <a:lnTo>
                  <a:pt x="6896713" y="1385085"/>
                </a:lnTo>
                <a:lnTo>
                  <a:pt x="6896713" y="1431256"/>
                </a:lnTo>
                <a:lnTo>
                  <a:pt x="6657442" y="1167992"/>
                </a:lnTo>
                <a:cubicBezTo>
                  <a:pt x="5955006" y="465555"/>
                  <a:pt x="4984599" y="31089"/>
                  <a:pt x="3912717" y="31089"/>
                </a:cubicBezTo>
                <a:cubicBezTo>
                  <a:pt x="1768953" y="31089"/>
                  <a:pt x="31089" y="1768953"/>
                  <a:pt x="31089" y="3912717"/>
                </a:cubicBezTo>
                <a:cubicBezTo>
                  <a:pt x="31089" y="4649636"/>
                  <a:pt x="236442" y="5338592"/>
                  <a:pt x="593046" y="5925483"/>
                </a:cubicBezTo>
                <a:lnTo>
                  <a:pt x="633874" y="5989169"/>
                </a:lnTo>
                <a:lnTo>
                  <a:pt x="607415" y="6005491"/>
                </a:lnTo>
                <a:lnTo>
                  <a:pt x="566458" y="5941603"/>
                </a:lnTo>
                <a:cubicBezTo>
                  <a:pt x="206998" y="5350013"/>
                  <a:pt x="0" y="4655538"/>
                  <a:pt x="0" y="3912717"/>
                </a:cubicBezTo>
                <a:cubicBezTo>
                  <a:pt x="0" y="1751783"/>
                  <a:pt x="1751783" y="0"/>
                  <a:pt x="3912717" y="0"/>
                </a:cubicBezTo>
                <a:close/>
              </a:path>
            </a:pathLst>
          </a:custGeom>
          <a:solidFill>
            <a:srgbClr val="FFFFFF">
              <a:alpha val="4196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39084D60-65A6-45F8-8C17-3529E43F1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16018" y="331504"/>
            <a:ext cx="6675982" cy="5235326"/>
            <a:chOff x="5516018" y="331504"/>
            <a:chExt cx="6675982" cy="5235326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44A2572-2BF1-4C8E-AF59-F3AD411D89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66830" y="33150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F5DF3485-B455-470C-8FA8-A1BDE087B8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20000" flipH="1">
              <a:off x="9408861" y="33832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5E9DCD0-EE49-4CB4-89B6-C25F9861C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40000" flipH="1">
              <a:off x="9551700" y="34763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713CF62-C96C-44E9-8C28-E3F2C6E7C6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360000" flipH="1">
              <a:off x="9688748" y="36808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D06558F-07E9-4D78-A6F3-8BCFA9E73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540000" flipH="1">
              <a:off x="9824866" y="38922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2D8773-83C0-4D51-9E1F-046DA7DA0D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660000" flipH="1">
              <a:off x="9966867" y="41754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880C3FB-3E2E-4054-A6D1-38176D6E2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780000" flipH="1">
              <a:off x="10104425" y="44587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505591A-6112-4B84-8E9E-923E43C4ED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900000" flipH="1">
              <a:off x="10240513" y="47948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884290-8E39-4425-BB4F-48D955C1F8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080000" flipH="1">
              <a:off x="10373882" y="52435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0C383A3-6D77-41CE-8121-498BC3BA5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200000" flipH="1">
              <a:off x="10505632" y="57062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120A319-4A10-4542-B48C-5FB2714C4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320000" flipH="1">
              <a:off x="10637382" y="62134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B15B038-50ED-419D-B142-C96EE418B5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440000" flipH="1">
              <a:off x="10760965" y="69043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AFF2F4-75B2-4498-8559-BAE80D89B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620000" flipH="1">
              <a:off x="10888991" y="75509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56AE167-8087-4A4B-B41D-5658EEBA68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740000" flipH="1">
              <a:off x="11010193" y="81974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D353E8A-CBA6-44F9-9C00-D0AD27C96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860000" flipH="1">
              <a:off x="11129014" y="895662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A2C318A-A79F-4CAD-BA7A-51427BF9ED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980000" flipH="1">
              <a:off x="11249872" y="96809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F2996E3-5E01-4F22-B23C-7CD0CF72C4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160000" flipH="1">
              <a:off x="11366875" y="104808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60F6BC4-AB51-4DE7-B83C-E71FE4EC86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280000" flipH="1">
              <a:off x="11474058" y="113152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F65FC1C-93BF-4ACA-BF17-17372DD10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400000" flipH="1">
              <a:off x="11583303" y="122179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9F9913C-8CCE-4D56-9D2A-0C2D68667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520000" flipH="1">
              <a:off x="11685344" y="1321772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0EDD18C-1AAD-48E5-AAAD-73F4B5643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700000" flipH="1">
              <a:off x="11787704" y="141763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2D7A5C4-18C8-43E9-A50A-F87A362C85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820000" flipH="1">
              <a:off x="11880859" y="151793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A0C484E-A224-4DB0-8C34-89BE54BD1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940000" flipH="1">
              <a:off x="11969252" y="1627437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9BB438E-A25F-4A7F-B209-8899B7CEC4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3060000" flipH="1">
              <a:off x="12062016" y="173601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8BA6DC-B1E9-4F32-A5CC-8F61976B69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2074680" y="1910249"/>
              <a:ext cx="117320" cy="82912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F6D95B2-1C8D-4156-AB05-523619B4FC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2149943" y="2083594"/>
              <a:ext cx="39676" cy="21436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88409AD-A77F-4304-9E8B-08A4891C7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80000" flipH="1">
              <a:off x="9127990" y="33425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62AD08A-B385-4D18-B948-8D53B3918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00000" flipH="1">
              <a:off x="8987576" y="33663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32A413E-FF1A-46B1-BF8B-3C1C408B34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20000" flipH="1">
              <a:off x="8844859" y="35117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CFF4E44-2BEB-4FAE-97C9-BC6E8296D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40000" flipH="1">
              <a:off x="8706904" y="36571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0486C0A-9B93-46B8-932F-876BE26CE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720000" flipH="1">
              <a:off x="8568008" y="38789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429BF5D-8D5B-4A48-89EE-8B779826EE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840000" flipH="1">
              <a:off x="8429112" y="41006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CDC996EE-5EB1-4943-A1E8-70810CBD67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960000" flipH="1">
              <a:off x="8294968" y="44621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2F833C8-E3CE-4399-B78B-9DD0EEA64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080000" flipH="1">
              <a:off x="8160824" y="48237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7C92DB2-78F1-4872-B9C7-C658A7886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260000" flipH="1">
              <a:off x="8027689" y="53184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F8A2FAA-05E1-448E-A606-FA9D67036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380000" flipH="1">
              <a:off x="7894554" y="58132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5AAB5D1-1672-4825-88A7-D93923475E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500000" flipH="1">
              <a:off x="7761419" y="63079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02CAAFDB-2BA2-4D04-8B8B-1241D5EC0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620000" flipH="1">
              <a:off x="7636645" y="68980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C381B3C-0009-451B-BCB3-48F7810C1B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800000" flipH="1">
              <a:off x="7511871" y="75119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2A10544C-1EAD-47FB-A17E-52C622282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920000" flipH="1">
              <a:off x="7387899" y="81977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2540B37-D854-4525-93F8-410685438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040000" flipH="1">
              <a:off x="7268530" y="89316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450DFE8-D07F-435C-B5A2-47D126FD9F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160000" flipH="1">
              <a:off x="7152030" y="97658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C1A6513-2D5D-458C-B841-D5DD9844B8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340000" flipH="1">
              <a:off x="7041695" y="106002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931CF18-850E-41CD-823E-D311BD5CC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460000" flipH="1">
              <a:off x="6931360" y="114346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4497A09-1B1C-4EB6-B728-6FC3A1C125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580000" flipH="1">
              <a:off x="6819070" y="123586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A60DE04-F3E8-437E-A2E4-A8A7BA01C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700000" flipH="1">
              <a:off x="6721359" y="133274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CDBBA541-852C-4AE6-82E8-6BD13AFB4F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880000" flipH="1">
              <a:off x="6617467" y="142942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C3362F-AD7E-45D7-BE85-7C8DD8134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000000" flipH="1">
              <a:off x="6520032" y="152728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FCD83E0F-C8AF-4D52-94DB-CD949A2B16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120000" flipH="1">
              <a:off x="6429579" y="164161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0D5F865-890F-483F-B407-516CE6D22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240000" flipH="1">
              <a:off x="6340532" y="175042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E6A2505-E617-4419-AB05-10B779B5C2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420000" flipH="1">
              <a:off x="6261757" y="186017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DFF0D66-52FC-4F64-B67F-72D9EFEED1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540000" flipH="1">
              <a:off x="6184144" y="197961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CC72040-7945-4051-989C-2B728F6D50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660000" flipH="1">
              <a:off x="6106531" y="209906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6EB6302-2333-45D4-AE20-B0F6D45CC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780000" flipH="1">
              <a:off x="6043206" y="222255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ECC1105-D16E-411D-B4B7-80BF039BF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960000" flipH="1">
              <a:off x="5978913" y="234430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D2F518-4540-44DE-BC62-7D598EC99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080000" flipH="1">
              <a:off x="5912438" y="247067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19566BC-880A-4113-A9C4-0017E5184C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200000" flipH="1">
              <a:off x="5858875" y="2600922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18E7D73-F4E4-4F5D-AFF9-EE491954A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320000" flipH="1">
              <a:off x="5808182" y="273404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D0988A2-3571-4C16-BDEF-58254F04E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500000" flipH="1">
              <a:off x="5773263" y="286686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550BAC8-41FE-4300-910B-EE7BBD7A0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620000" flipH="1">
              <a:off x="5735963" y="300206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8CD175C-18A7-4589-8C46-A61FEF6D9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740000" flipH="1">
              <a:off x="5700105" y="313891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6BE3031-FD1C-443C-9889-243CEEAED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860000" flipH="1">
              <a:off x="5665939" y="327548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7E37BF5D-3732-41F2-B9AF-A56C9214D6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040000" flipH="1">
              <a:off x="5644476" y="341425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77B6718-917A-4A01-BCF8-5C6E1217B2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160000" flipH="1">
              <a:off x="5626530" y="355462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C23AB5B-98FB-43F1-B590-BBA79814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280000" flipH="1">
              <a:off x="5616429" y="369183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6EEC146-226B-4C83-9C1B-DD5495DE16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400000" flipH="1">
              <a:off x="5611319" y="383537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C24D094-41EF-4CA2-9834-B04793FA1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580000" flipH="1">
              <a:off x="5608540" y="397572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DA46AD8-674F-46C3-8A22-280F78F91A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700000" flipH="1">
              <a:off x="5605761" y="411607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AE9D757B-CD9D-447C-8780-79F2FF8751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820000" flipH="1">
              <a:off x="5624195" y="425421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76B76E9-7342-43BC-B629-9180ABF577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940000" flipH="1">
              <a:off x="5642629" y="439235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3F25F68A-2DCB-4183-86F1-3428326E5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120000" flipH="1">
              <a:off x="5654818" y="453638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A5FA913-066C-4504-A753-026056454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240000" flipH="1">
              <a:off x="5684446" y="4671367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6A6E50AC-CA1E-4DD3-B85F-1720C019E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360000" flipH="1">
              <a:off x="5714074" y="480873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1224B2B1-DBD8-4BA8-8CEB-BFAC8A15D3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480000" flipH="1">
              <a:off x="5748464" y="494847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4DEFE1E7-69A3-47F5-B8B8-C0898281B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660000" flipH="1">
              <a:off x="5792091" y="5077607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66F1F489-762E-4979-9EBC-50A62330B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780000" flipH="1">
              <a:off x="5847441" y="521122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27DF22C-20E6-4DED-B405-1B26C5218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900000" flipH="1">
              <a:off x="5900410" y="534245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236FD8D7-6E0F-468E-B8C4-F4E6707112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7020000" flipH="1">
              <a:off x="5955760" y="547369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C9C55FC-843E-EF77-C121-F5669006B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46333" y="2032000"/>
            <a:ext cx="4513792" cy="2819398"/>
          </a:xfrm>
        </p:spPr>
        <p:txBody>
          <a:bodyPr>
            <a:normAutofit/>
          </a:bodyPr>
          <a:lstStyle/>
          <a:p>
            <a:r>
              <a:rPr lang="en-FR" dirty="0"/>
              <a:t>Coding WeeksEquipe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7EF9BC-BECA-6890-1F0B-074638F83B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46333" y="4851399"/>
            <a:ext cx="4513792" cy="914401"/>
          </a:xfrm>
        </p:spPr>
        <p:txBody>
          <a:bodyPr>
            <a:normAutofit/>
          </a:bodyPr>
          <a:lstStyle/>
          <a:p>
            <a:r>
              <a:rPr lang="en-FR"/>
              <a:t>Riad DARWISH, Thomas FLAMENT, Issam KABBARA, Rémi SITHISAK, Sao TAJAN</a:t>
            </a:r>
          </a:p>
        </p:txBody>
      </p:sp>
    </p:spTree>
    <p:extLst>
      <p:ext uri="{BB962C8B-B14F-4D97-AF65-F5344CB8AC3E}">
        <p14:creationId xmlns:p14="http://schemas.microsoft.com/office/powerpoint/2010/main" val="60821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D7098-652A-C003-9E33-2D5753E5C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BE72A-5B12-68D6-2BB2-69CC2C47B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Sommaire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7BCBF-6F22-26D5-CC2B-C48ABAC4C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897062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FR" sz="2000" dirty="0">
                <a:solidFill>
                  <a:srgbClr val="FFFFFF"/>
                </a:solidFill>
              </a:rPr>
              <a:t>Stratégie Adoptée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Agenda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Collaboration Git</a:t>
            </a:r>
          </a:p>
          <a:p>
            <a:r>
              <a:rPr lang="en-FR" sz="2000" dirty="0">
                <a:solidFill>
                  <a:srgbClr val="FFFFFF"/>
                </a:solidFill>
              </a:rPr>
              <a:t>Week 1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Détails de chaque Sprint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Rendu Final</a:t>
            </a:r>
          </a:p>
          <a:p>
            <a:r>
              <a:rPr lang="en-FR" sz="2000" dirty="0">
                <a:solidFill>
                  <a:srgbClr val="FFFFFF"/>
                </a:solidFill>
              </a:rPr>
              <a:t>Week 2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Détails de chaque Sprint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Version MVP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Amélioration Design</a:t>
            </a:r>
          </a:p>
          <a:p>
            <a:endParaRPr lang="en-FR" sz="2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401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07DED-B2B9-AFD5-17DB-33668D329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Stratégie adoptée -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B362B-9CC3-AC11-A3CF-22467A9A3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FR" dirty="0"/>
              <a:t>Lundi 10: Révisions sur Git, Tutoriel GitBranching, Début Tuto Django (Sprint 5)</a:t>
            </a:r>
          </a:p>
          <a:p>
            <a:r>
              <a:rPr lang="en-FR" dirty="0"/>
              <a:t>Mardi 11: MVP du Tuto Django (Sprint 13)</a:t>
            </a:r>
          </a:p>
          <a:p>
            <a:r>
              <a:rPr lang="en-FR" dirty="0"/>
              <a:t>Mercredi 12: Finalisation du Tuto Django (Sprint 14), Début FitnessArc (Sprint 5) + Design</a:t>
            </a:r>
          </a:p>
          <a:p>
            <a:r>
              <a:rPr lang="en-FR" dirty="0"/>
              <a:t>Jeudi 13: Finalisation du MVP FitnessArc, poursuite du Design</a:t>
            </a:r>
          </a:p>
          <a:p>
            <a:r>
              <a:rPr lang="en-FR" dirty="0"/>
              <a:t>Vendredi 14: Préparation de la présentation, dernières retouches pour le tuto Django, poursuite du projet FitnessArc</a:t>
            </a:r>
          </a:p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1173711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7ED25-CEDF-1542-58CC-BD4E1484F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192"/>
            <a:ext cx="10515600" cy="1325563"/>
          </a:xfrm>
        </p:spPr>
        <p:txBody>
          <a:bodyPr/>
          <a:lstStyle/>
          <a:p>
            <a:r>
              <a:rPr lang="en-FR" dirty="0"/>
              <a:t>Stratégie adoptée – Collaboration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72C9C-8140-8B40-28B7-565638890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5075280"/>
          </a:xfrm>
        </p:spPr>
        <p:txBody>
          <a:bodyPr>
            <a:normAutofit fontScale="92500"/>
          </a:bodyPr>
          <a:lstStyle/>
          <a:p>
            <a:r>
              <a:rPr lang="en-FR" dirty="0"/>
              <a:t>Week 1 : </a:t>
            </a:r>
          </a:p>
          <a:p>
            <a:pPr lvl="1"/>
            <a:r>
              <a:rPr lang="en-FR" dirty="0"/>
              <a:t>Chacun travaille localement sur le projet week1 pour bien s’approprier la programmation avec Django.</a:t>
            </a:r>
          </a:p>
          <a:p>
            <a:pPr lvl="1"/>
            <a:r>
              <a:rPr lang="en-FR" dirty="0"/>
              <a:t>Chacun travaille sur sa branche week1_prenom</a:t>
            </a:r>
          </a:p>
          <a:p>
            <a:pPr lvl="1"/>
            <a:r>
              <a:rPr lang="en-FR" dirty="0"/>
              <a:t>Fin de semaine : Mise en commun en présentiel, on push sur main la meilleure version</a:t>
            </a:r>
          </a:p>
          <a:p>
            <a:r>
              <a:rPr lang="en-FR" dirty="0"/>
              <a:t>Week 2 :</a:t>
            </a:r>
          </a:p>
          <a:p>
            <a:pPr lvl="1"/>
            <a:r>
              <a:rPr lang="en-FR" dirty="0"/>
              <a:t>Après le S</a:t>
            </a:r>
            <a:r>
              <a:rPr lang="en-GB" dirty="0"/>
              <a:t>p</a:t>
            </a:r>
            <a:r>
              <a:rPr lang="en-FR" dirty="0"/>
              <a:t>rint 0, on se répartit les tâches. </a:t>
            </a:r>
          </a:p>
          <a:p>
            <a:pPr lvl="1"/>
            <a:r>
              <a:rPr lang="en-FR" dirty="0"/>
              <a:t>Chacun travaille sur une seule app, une personne se charge des changements dans les fichiers communs (settings.py, etc.)</a:t>
            </a:r>
          </a:p>
          <a:p>
            <a:pPr lvl="1"/>
            <a:r>
              <a:rPr lang="en-FR" dirty="0"/>
              <a:t>Création des branches feature/nom_app, et en fin de chaque journée : </a:t>
            </a:r>
          </a:p>
          <a:p>
            <a:pPr marL="457200" lvl="1" indent="0">
              <a:buNone/>
            </a:pPr>
            <a:r>
              <a:rPr lang="en-GB" dirty="0"/>
              <a:t>	git checkout main</a:t>
            </a:r>
          </a:p>
          <a:p>
            <a:pPr marL="457200" lvl="1" indent="0">
              <a:buNone/>
            </a:pPr>
            <a:r>
              <a:rPr lang="en-GB" dirty="0"/>
              <a:t>	git pull origin main</a:t>
            </a:r>
          </a:p>
          <a:p>
            <a:pPr marL="457200" lvl="1" indent="0">
              <a:buNone/>
            </a:pPr>
            <a:r>
              <a:rPr lang="en-GB" dirty="0"/>
              <a:t>	git checkout feature/accounts</a:t>
            </a:r>
          </a:p>
          <a:p>
            <a:pPr marL="457200" lvl="1" indent="0">
              <a:buNone/>
            </a:pPr>
            <a:r>
              <a:rPr lang="en-GB" dirty="0"/>
              <a:t>	git rebase main</a:t>
            </a:r>
          </a:p>
          <a:p>
            <a:pPr marL="457200" lvl="1" indent="0">
              <a:buNone/>
            </a:pPr>
            <a:r>
              <a:rPr lang="en-GB" dirty="0"/>
              <a:t>	git push -f origin feature/accounts</a:t>
            </a:r>
          </a:p>
          <a:p>
            <a:pPr marL="457200" lvl="1" indent="0">
              <a:buNone/>
            </a:pPr>
            <a:r>
              <a:rPr lang="en-FR" dirty="0"/>
              <a:t>	puis </a:t>
            </a:r>
          </a:p>
        </p:txBody>
      </p:sp>
    </p:spTree>
    <p:extLst>
      <p:ext uri="{BB962C8B-B14F-4D97-AF65-F5344CB8AC3E}">
        <p14:creationId xmlns:p14="http://schemas.microsoft.com/office/powerpoint/2010/main" val="731292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5076A-48D0-FE39-C081-D65F2B835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7838"/>
            <a:ext cx="10131425" cy="1456267"/>
          </a:xfrm>
        </p:spPr>
        <p:txBody>
          <a:bodyPr/>
          <a:lstStyle/>
          <a:p>
            <a:r>
              <a:rPr lang="en-FR" dirty="0"/>
              <a:t>WEEK 1 – Sprint 0 – Analyse du problème	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AD14E-0DD4-126E-2E6C-82A7940F2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203159"/>
            <a:ext cx="10131425" cy="5414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Objectif </a:t>
            </a:r>
          </a:p>
          <a:p>
            <a:pPr marL="0" indent="0">
              <a:buNone/>
            </a:pPr>
            <a:r>
              <a:rPr lang="en-GB" dirty="0" err="1"/>
              <a:t>Permettre</a:t>
            </a:r>
            <a:r>
              <a:rPr lang="en-GB" dirty="0"/>
              <a:t> aux habitants de Paris </a:t>
            </a:r>
            <a:r>
              <a:rPr lang="en-GB" dirty="0" err="1"/>
              <a:t>Saclay</a:t>
            </a:r>
            <a:r>
              <a:rPr lang="en-GB" dirty="0"/>
              <a:t> </a:t>
            </a:r>
            <a:r>
              <a:rPr lang="en-GB" dirty="0" err="1"/>
              <a:t>d'acheter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frais et </a:t>
            </a:r>
            <a:r>
              <a:rPr lang="en-GB" dirty="0" err="1"/>
              <a:t>locaux</a:t>
            </a:r>
            <a:r>
              <a:rPr lang="en-GB" dirty="0"/>
              <a:t> </a:t>
            </a:r>
            <a:r>
              <a:rPr lang="en-GB" dirty="0" err="1"/>
              <a:t>directement</a:t>
            </a:r>
            <a:r>
              <a:rPr lang="en-GB" dirty="0"/>
              <a:t> </a:t>
            </a:r>
            <a:r>
              <a:rPr lang="en-GB" dirty="0" err="1"/>
              <a:t>auprès</a:t>
            </a:r>
            <a:r>
              <a:rPr lang="en-GB" dirty="0"/>
              <a:t> des </a:t>
            </a:r>
            <a:r>
              <a:rPr lang="en-GB" dirty="0" err="1"/>
              <a:t>producteurs</a:t>
            </a:r>
            <a:r>
              <a:rPr lang="en-GB" dirty="0"/>
              <a:t> de la </a:t>
            </a:r>
            <a:r>
              <a:rPr lang="en-GB" dirty="0" err="1"/>
              <a:t>région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favorisant</a:t>
            </a:r>
            <a:r>
              <a:rPr lang="en-GB" dirty="0"/>
              <a:t> les circuits courts et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soutenant</a:t>
            </a:r>
            <a:r>
              <a:rPr lang="en-GB" dirty="0"/>
              <a:t> </a:t>
            </a:r>
            <a:r>
              <a:rPr lang="en-GB" dirty="0" err="1"/>
              <a:t>l'économie</a:t>
            </a:r>
            <a:r>
              <a:rPr lang="en-GB" dirty="0"/>
              <a:t> locale.</a:t>
            </a:r>
          </a:p>
          <a:p>
            <a:pPr marL="0" indent="0">
              <a:buNone/>
            </a:pPr>
            <a:r>
              <a:rPr lang="en-GB" b="1" dirty="0"/>
              <a:t>MVP (Minimum Viable Product)</a:t>
            </a:r>
          </a:p>
          <a:p>
            <a:pPr>
              <a:buFontTx/>
              <a:buChar char="-"/>
            </a:pPr>
            <a:r>
              <a:rPr lang="en-GB" dirty="0"/>
              <a:t>Page </a:t>
            </a:r>
            <a:r>
              <a:rPr lang="en-GB" dirty="0" err="1"/>
              <a:t>d'accueil</a:t>
            </a:r>
            <a:r>
              <a:rPr lang="en-GB" dirty="0"/>
              <a:t> : </a:t>
            </a:r>
            <a:r>
              <a:rPr lang="en-GB" dirty="0" err="1"/>
              <a:t>Présentation</a:t>
            </a:r>
            <a:r>
              <a:rPr lang="en-GB" dirty="0"/>
              <a:t> de la </a:t>
            </a:r>
            <a:r>
              <a:rPr lang="en-GB" dirty="0" err="1"/>
              <a:t>plateforme</a:t>
            </a:r>
            <a:r>
              <a:rPr lang="en-GB" dirty="0"/>
              <a:t> avec mise </a:t>
            </a:r>
            <a:r>
              <a:rPr lang="en-GB" dirty="0" err="1"/>
              <a:t>en</a:t>
            </a:r>
            <a:r>
              <a:rPr lang="en-GB" dirty="0"/>
              <a:t> avant des </a:t>
            </a:r>
            <a:r>
              <a:rPr lang="en-GB" dirty="0" err="1"/>
              <a:t>produits</a:t>
            </a:r>
            <a:r>
              <a:rPr lang="en-GB" dirty="0"/>
              <a:t> phares et des </a:t>
            </a:r>
            <a:r>
              <a:rPr lang="en-GB" dirty="0" err="1"/>
              <a:t>valeurs</a:t>
            </a:r>
            <a:r>
              <a:rPr lang="en-GB" dirty="0"/>
              <a:t> (local, </a:t>
            </a:r>
            <a:r>
              <a:rPr lang="en-GB" dirty="0" err="1"/>
              <a:t>qualité</a:t>
            </a:r>
            <a:r>
              <a:rPr lang="en-GB" dirty="0"/>
              <a:t>, </a:t>
            </a:r>
            <a:r>
              <a:rPr lang="en-GB" dirty="0" err="1"/>
              <a:t>transparence</a:t>
            </a:r>
            <a:r>
              <a:rPr lang="en-GB" dirty="0"/>
              <a:t>) </a:t>
            </a:r>
          </a:p>
          <a:p>
            <a:pPr>
              <a:buFontTx/>
              <a:buChar char="-"/>
            </a:pPr>
            <a:r>
              <a:rPr lang="en-GB" dirty="0"/>
              <a:t> Catalogue de </a:t>
            </a:r>
            <a:r>
              <a:rPr lang="en-GB" dirty="0" err="1"/>
              <a:t>produits</a:t>
            </a:r>
            <a:r>
              <a:rPr lang="en-GB" dirty="0"/>
              <a:t> : </a:t>
            </a:r>
            <a:r>
              <a:rPr lang="en-GB" dirty="0" err="1"/>
              <a:t>Liste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disponibles</a:t>
            </a:r>
            <a:r>
              <a:rPr lang="en-GB" dirty="0"/>
              <a:t> avec </a:t>
            </a:r>
            <a:r>
              <a:rPr lang="en-GB" dirty="0" err="1"/>
              <a:t>filtres</a:t>
            </a:r>
            <a:r>
              <a:rPr lang="en-GB" dirty="0"/>
              <a:t> (</a:t>
            </a:r>
            <a:r>
              <a:rPr lang="en-GB" dirty="0" err="1"/>
              <a:t>producteur</a:t>
            </a:r>
            <a:r>
              <a:rPr lang="en-GB" dirty="0"/>
              <a:t>, </a:t>
            </a:r>
            <a:r>
              <a:rPr lang="en-GB" dirty="0" err="1"/>
              <a:t>catégorie</a:t>
            </a:r>
            <a:r>
              <a:rPr lang="en-GB" dirty="0"/>
              <a:t>) et recherche </a:t>
            </a:r>
          </a:p>
          <a:p>
            <a:pPr>
              <a:buFontTx/>
              <a:buChar char="-"/>
            </a:pPr>
            <a:r>
              <a:rPr lang="en-GB" dirty="0"/>
              <a:t>Fiches </a:t>
            </a:r>
            <a:r>
              <a:rPr lang="en-GB" dirty="0" err="1"/>
              <a:t>produits</a:t>
            </a:r>
            <a:r>
              <a:rPr lang="en-GB" dirty="0"/>
              <a:t> : </a:t>
            </a:r>
            <a:r>
              <a:rPr lang="en-GB" dirty="0" err="1"/>
              <a:t>Détails</a:t>
            </a:r>
            <a:r>
              <a:rPr lang="en-GB" dirty="0"/>
              <a:t> </a:t>
            </a:r>
            <a:r>
              <a:rPr lang="en-GB" dirty="0" err="1"/>
              <a:t>complets</a:t>
            </a:r>
            <a:r>
              <a:rPr lang="en-GB" dirty="0"/>
              <a:t> (nom, prix, stock, </a:t>
            </a:r>
            <a:r>
              <a:rPr lang="en-GB" dirty="0" err="1"/>
              <a:t>producteur</a:t>
            </a:r>
            <a:r>
              <a:rPr lang="en-GB" dirty="0"/>
              <a:t>, description) </a:t>
            </a:r>
          </a:p>
          <a:p>
            <a:pPr>
              <a:buFontTx/>
              <a:buChar char="-"/>
            </a:pPr>
            <a:r>
              <a:rPr lang="en-GB" dirty="0" err="1"/>
              <a:t>Annuaire</a:t>
            </a:r>
            <a:r>
              <a:rPr lang="en-GB" dirty="0"/>
              <a:t> des </a:t>
            </a:r>
            <a:r>
              <a:rPr lang="en-GB" dirty="0" err="1"/>
              <a:t>producteurs</a:t>
            </a:r>
            <a:r>
              <a:rPr lang="en-GB" dirty="0"/>
              <a:t> : </a:t>
            </a:r>
            <a:r>
              <a:rPr lang="en-GB" dirty="0" err="1"/>
              <a:t>Liste</a:t>
            </a:r>
            <a:r>
              <a:rPr lang="en-GB" dirty="0"/>
              <a:t> des </a:t>
            </a:r>
            <a:r>
              <a:rPr lang="en-GB" dirty="0" err="1"/>
              <a:t>producteurs</a:t>
            </a:r>
            <a:r>
              <a:rPr lang="en-GB" dirty="0"/>
              <a:t> </a:t>
            </a:r>
            <a:r>
              <a:rPr lang="en-GB" dirty="0" err="1"/>
              <a:t>partenaires</a:t>
            </a:r>
            <a:r>
              <a:rPr lang="en-GB" dirty="0"/>
              <a:t> avec </a:t>
            </a:r>
            <a:r>
              <a:rPr lang="en-GB" dirty="0" err="1"/>
              <a:t>leurs</a:t>
            </a:r>
            <a:r>
              <a:rPr lang="en-GB" dirty="0"/>
              <a:t> </a:t>
            </a:r>
            <a:r>
              <a:rPr lang="en-GB" dirty="0" err="1"/>
              <a:t>informations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Fiches </a:t>
            </a:r>
            <a:r>
              <a:rPr lang="en-GB" dirty="0" err="1"/>
              <a:t>producteurs</a:t>
            </a:r>
            <a:r>
              <a:rPr lang="en-GB" dirty="0"/>
              <a:t> : </a:t>
            </a:r>
            <a:r>
              <a:rPr lang="en-GB" dirty="0" err="1"/>
              <a:t>Profil</a:t>
            </a:r>
            <a:r>
              <a:rPr lang="en-GB" dirty="0"/>
              <a:t> </a:t>
            </a:r>
            <a:r>
              <a:rPr lang="en-GB" dirty="0" err="1"/>
              <a:t>détaillé</a:t>
            </a:r>
            <a:r>
              <a:rPr lang="en-GB" dirty="0"/>
              <a:t> de </a:t>
            </a:r>
            <a:r>
              <a:rPr lang="en-GB" dirty="0" err="1"/>
              <a:t>chaque</a:t>
            </a:r>
            <a:r>
              <a:rPr lang="en-GB" dirty="0"/>
              <a:t> </a:t>
            </a:r>
            <a:r>
              <a:rPr lang="en-GB" dirty="0" err="1"/>
              <a:t>producteur</a:t>
            </a:r>
            <a:r>
              <a:rPr lang="en-GB" dirty="0"/>
              <a:t> avec </a:t>
            </a:r>
            <a:r>
              <a:rPr lang="en-GB" dirty="0" err="1"/>
              <a:t>ses</a:t>
            </a:r>
            <a:r>
              <a:rPr lang="en-GB" dirty="0"/>
              <a:t> </a:t>
            </a:r>
            <a:r>
              <a:rPr lang="en-GB" dirty="0" err="1"/>
              <a:t>produits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Panier </a:t>
            </a:r>
            <a:r>
              <a:rPr lang="en-GB" dirty="0" err="1"/>
              <a:t>d'achat</a:t>
            </a:r>
            <a:r>
              <a:rPr lang="en-GB" dirty="0"/>
              <a:t> : Gestion du panier (</a:t>
            </a:r>
            <a:r>
              <a:rPr lang="en-GB" dirty="0" err="1"/>
              <a:t>ajout</a:t>
            </a:r>
            <a:r>
              <a:rPr lang="en-GB" dirty="0"/>
              <a:t>, modification, suppression de </a:t>
            </a:r>
            <a:r>
              <a:rPr lang="en-GB" dirty="0" err="1"/>
              <a:t>produits</a:t>
            </a:r>
            <a:r>
              <a:rPr lang="en-GB" dirty="0"/>
              <a:t>)</a:t>
            </a:r>
          </a:p>
          <a:p>
            <a:pPr>
              <a:buFontTx/>
              <a:buChar char="-"/>
            </a:pPr>
            <a:r>
              <a:rPr lang="en-GB" dirty="0"/>
              <a:t>Page À </a:t>
            </a:r>
            <a:r>
              <a:rPr lang="en-GB" dirty="0" err="1"/>
              <a:t>propos</a:t>
            </a:r>
            <a:r>
              <a:rPr lang="en-GB" dirty="0"/>
              <a:t> : </a:t>
            </a:r>
            <a:r>
              <a:rPr lang="en-GB" dirty="0" err="1"/>
              <a:t>Présentation</a:t>
            </a:r>
            <a:r>
              <a:rPr lang="en-GB" dirty="0"/>
              <a:t> de la mission, </a:t>
            </a:r>
            <a:r>
              <a:rPr lang="en-GB" dirty="0" err="1"/>
              <a:t>valeurs</a:t>
            </a:r>
            <a:r>
              <a:rPr lang="en-GB" dirty="0"/>
              <a:t> et histoire du Comptoir Local </a:t>
            </a:r>
          </a:p>
          <a:p>
            <a:pPr>
              <a:buFontTx/>
              <a:buChar char="-"/>
            </a:pPr>
            <a:r>
              <a:rPr lang="en-GB" dirty="0"/>
              <a:t>Recherche : </a:t>
            </a:r>
            <a:r>
              <a:rPr lang="en-GB" dirty="0" err="1"/>
              <a:t>Moteur</a:t>
            </a:r>
            <a:r>
              <a:rPr lang="en-GB" dirty="0"/>
              <a:t> de recherche pour </a:t>
            </a:r>
            <a:r>
              <a:rPr lang="en-GB" dirty="0" err="1"/>
              <a:t>trouver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ou</a:t>
            </a:r>
            <a:r>
              <a:rPr lang="en-GB" dirty="0"/>
              <a:t> </a:t>
            </a:r>
            <a:r>
              <a:rPr lang="en-GB" dirty="0" err="1"/>
              <a:t>producteurs</a:t>
            </a: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00965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FBD6-E37D-77C1-1118-370F62DCF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D384F-92AC-1AE2-2CB1-FA4CECF92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641" y="119870"/>
            <a:ext cx="11947359" cy="1456267"/>
          </a:xfrm>
        </p:spPr>
        <p:txBody>
          <a:bodyPr/>
          <a:lstStyle/>
          <a:p>
            <a:r>
              <a:rPr lang="en-FR" dirty="0"/>
              <a:t>WEEK 1 – Sprint 0 – </a:t>
            </a:r>
            <a:r>
              <a:rPr lang="en-GB" b="1" dirty="0" err="1"/>
              <a:t>Réflexion</a:t>
            </a:r>
            <a:r>
              <a:rPr lang="en-GB" b="1" dirty="0"/>
              <a:t> </a:t>
            </a:r>
            <a:r>
              <a:rPr lang="en-GB" b="1" dirty="0" err="1"/>
              <a:t>autour</a:t>
            </a:r>
            <a:r>
              <a:rPr lang="en-GB" b="1" dirty="0"/>
              <a:t> de la conception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17589-5972-5413-30C9-F96B4D113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215189"/>
            <a:ext cx="11032957" cy="5402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 err="1"/>
              <a:t>Langage</a:t>
            </a:r>
            <a:r>
              <a:rPr lang="en-GB" b="1" dirty="0"/>
              <a:t> </a:t>
            </a:r>
            <a:r>
              <a:rPr lang="en-GB" b="1" dirty="0" err="1"/>
              <a:t>commun</a:t>
            </a:r>
            <a:r>
              <a:rPr lang="en-GB" b="1" dirty="0"/>
              <a:t> (Ubiquitous Language)</a:t>
            </a:r>
            <a:endParaRPr lang="en-GB" dirty="0"/>
          </a:p>
          <a:p>
            <a:r>
              <a:rPr lang="en-GB" b="1" dirty="0" err="1"/>
              <a:t>Produit</a:t>
            </a:r>
            <a:r>
              <a:rPr lang="en-GB" b="1" dirty="0"/>
              <a:t> (Product)</a:t>
            </a:r>
            <a:r>
              <a:rPr lang="en-GB" dirty="0"/>
              <a:t> : Article </a:t>
            </a:r>
            <a:r>
              <a:rPr lang="en-GB" dirty="0" err="1"/>
              <a:t>vendu</a:t>
            </a:r>
            <a:r>
              <a:rPr lang="en-GB" dirty="0"/>
              <a:t> sur la </a:t>
            </a:r>
            <a:r>
              <a:rPr lang="en-GB" dirty="0" err="1"/>
              <a:t>plateforme</a:t>
            </a:r>
            <a:r>
              <a:rPr lang="en-GB" dirty="0"/>
              <a:t> (nom, prix, stock, description)</a:t>
            </a:r>
          </a:p>
          <a:p>
            <a:r>
              <a:rPr lang="en-GB" b="1" dirty="0" err="1"/>
              <a:t>Producteur</a:t>
            </a:r>
            <a:r>
              <a:rPr lang="en-GB" b="1" dirty="0"/>
              <a:t> (Producer)</a:t>
            </a:r>
            <a:r>
              <a:rPr lang="en-GB" dirty="0"/>
              <a:t> : Artisan/</a:t>
            </a:r>
            <a:r>
              <a:rPr lang="en-GB" dirty="0" err="1"/>
              <a:t>fermier</a:t>
            </a:r>
            <a:r>
              <a:rPr lang="en-GB" dirty="0"/>
              <a:t> proposant des </a:t>
            </a:r>
            <a:r>
              <a:rPr lang="en-GB" dirty="0" err="1"/>
              <a:t>produits</a:t>
            </a:r>
            <a:r>
              <a:rPr lang="en-GB" dirty="0"/>
              <a:t> (nom, email, </a:t>
            </a:r>
            <a:r>
              <a:rPr lang="en-GB" dirty="0" err="1"/>
              <a:t>adresse</a:t>
            </a:r>
            <a:r>
              <a:rPr lang="en-GB" dirty="0"/>
              <a:t>)</a:t>
            </a:r>
          </a:p>
          <a:p>
            <a:r>
              <a:rPr lang="en-GB" b="1" dirty="0"/>
              <a:t>Panier (Cart)</a:t>
            </a:r>
            <a:r>
              <a:rPr lang="en-GB" dirty="0"/>
              <a:t> : Collection </a:t>
            </a:r>
            <a:r>
              <a:rPr lang="en-GB" dirty="0" err="1"/>
              <a:t>temporaire</a:t>
            </a:r>
            <a:r>
              <a:rPr lang="en-GB" dirty="0"/>
              <a:t> de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sélectionnés</a:t>
            </a:r>
            <a:r>
              <a:rPr lang="en-GB" dirty="0"/>
              <a:t> par un </a:t>
            </a:r>
            <a:r>
              <a:rPr lang="en-GB" dirty="0" err="1"/>
              <a:t>visiteur</a:t>
            </a:r>
            <a:endParaRPr lang="en-GB" dirty="0"/>
          </a:p>
          <a:p>
            <a:r>
              <a:rPr lang="en-GB" b="1" dirty="0"/>
              <a:t>Stock</a:t>
            </a:r>
            <a:r>
              <a:rPr lang="en-GB" dirty="0"/>
              <a:t> : </a:t>
            </a:r>
            <a:r>
              <a:rPr lang="en-GB" dirty="0" err="1"/>
              <a:t>Quantité</a:t>
            </a:r>
            <a:r>
              <a:rPr lang="en-GB" dirty="0"/>
              <a:t> disponible d'un </a:t>
            </a:r>
            <a:r>
              <a:rPr lang="en-GB" dirty="0" err="1"/>
              <a:t>produit</a:t>
            </a:r>
            <a:endParaRPr lang="en-GB" dirty="0"/>
          </a:p>
          <a:p>
            <a:r>
              <a:rPr lang="en-GB" b="1" dirty="0"/>
              <a:t>Prix </a:t>
            </a:r>
            <a:r>
              <a:rPr lang="en-GB" dirty="0"/>
              <a:t>: </a:t>
            </a:r>
            <a:r>
              <a:rPr lang="en-GB" dirty="0" err="1"/>
              <a:t>Montant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euros pour un </a:t>
            </a:r>
            <a:r>
              <a:rPr lang="en-GB" dirty="0" err="1"/>
              <a:t>produit</a:t>
            </a:r>
            <a:endParaRPr lang="en-GB" dirty="0"/>
          </a:p>
          <a:p>
            <a:r>
              <a:rPr lang="en-GB" b="1" dirty="0"/>
              <a:t>Circuit court</a:t>
            </a:r>
            <a:r>
              <a:rPr lang="en-GB" dirty="0"/>
              <a:t> : Vente </a:t>
            </a:r>
            <a:r>
              <a:rPr lang="en-GB" dirty="0" err="1"/>
              <a:t>directe</a:t>
            </a:r>
            <a:r>
              <a:rPr lang="en-GB" dirty="0"/>
              <a:t> </a:t>
            </a:r>
            <a:r>
              <a:rPr lang="en-GB" dirty="0" err="1"/>
              <a:t>producteur</a:t>
            </a:r>
            <a:r>
              <a:rPr lang="en-GB" dirty="0"/>
              <a:t> → </a:t>
            </a:r>
            <a:r>
              <a:rPr lang="en-GB" dirty="0" err="1"/>
              <a:t>consommateur</a:t>
            </a:r>
            <a:r>
              <a:rPr lang="en-GB" dirty="0"/>
              <a:t> avec un minimum </a:t>
            </a:r>
            <a:r>
              <a:rPr lang="en-GB" dirty="0" err="1"/>
              <a:t>d'intermédiaires</a:t>
            </a:r>
            <a:endParaRPr lang="en-GB" dirty="0"/>
          </a:p>
          <a:p>
            <a:r>
              <a:rPr lang="en-GB" b="1" dirty="0" err="1"/>
              <a:t>Produit</a:t>
            </a:r>
            <a:r>
              <a:rPr lang="en-GB" b="1" dirty="0"/>
              <a:t> local</a:t>
            </a:r>
            <a:r>
              <a:rPr lang="en-GB" dirty="0"/>
              <a:t> : </a:t>
            </a:r>
            <a:r>
              <a:rPr lang="en-GB" dirty="0" err="1"/>
              <a:t>Produit</a:t>
            </a:r>
            <a:r>
              <a:rPr lang="en-GB" dirty="0"/>
              <a:t> </a:t>
            </a:r>
            <a:r>
              <a:rPr lang="en-GB" dirty="0" err="1"/>
              <a:t>issu</a:t>
            </a:r>
            <a:r>
              <a:rPr lang="en-GB" dirty="0"/>
              <a:t> de la </a:t>
            </a:r>
            <a:r>
              <a:rPr lang="en-GB" dirty="0" err="1"/>
              <a:t>région</a:t>
            </a:r>
            <a:r>
              <a:rPr lang="en-GB" dirty="0"/>
              <a:t> </a:t>
            </a:r>
            <a:r>
              <a:rPr lang="en-GB" dirty="0" err="1"/>
              <a:t>parisienne</a:t>
            </a:r>
            <a:r>
              <a:rPr lang="en-GB" dirty="0"/>
              <a:t>/Île-de-France</a:t>
            </a:r>
          </a:p>
        </p:txBody>
      </p:sp>
    </p:spTree>
    <p:extLst>
      <p:ext uri="{BB962C8B-B14F-4D97-AF65-F5344CB8AC3E}">
        <p14:creationId xmlns:p14="http://schemas.microsoft.com/office/powerpoint/2010/main" val="2687947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19741-50E6-30E1-8148-0FDBC4F11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69BDF-B997-7C44-C0E9-53EF7409A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641" y="119870"/>
            <a:ext cx="11947359" cy="1456267"/>
          </a:xfrm>
        </p:spPr>
        <p:txBody>
          <a:bodyPr/>
          <a:lstStyle/>
          <a:p>
            <a:r>
              <a:rPr lang="en-FR" dirty="0"/>
              <a:t>WEEK 1 – Sprint 0 – </a:t>
            </a:r>
            <a:r>
              <a:rPr lang="en-GB" b="1" dirty="0" err="1"/>
              <a:t>Réflexion</a:t>
            </a:r>
            <a:r>
              <a:rPr lang="en-GB" b="1" dirty="0"/>
              <a:t> </a:t>
            </a:r>
            <a:r>
              <a:rPr lang="en-GB" b="1" dirty="0" err="1"/>
              <a:t>autour</a:t>
            </a:r>
            <a:r>
              <a:rPr lang="en-GB" b="1" dirty="0"/>
              <a:t> de la conception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79157-AC5E-7D76-3CC9-C6279AF01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635" y="1094874"/>
            <a:ext cx="6545179" cy="494497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User Stories </a:t>
            </a:r>
          </a:p>
          <a:p>
            <a:pPr marL="0" indent="0">
              <a:buNone/>
            </a:pPr>
            <a:r>
              <a:rPr lang="en-GB" dirty="0"/>
              <a:t>Navigation &amp; </a:t>
            </a:r>
            <a:r>
              <a:rPr lang="en-GB" dirty="0" err="1"/>
              <a:t>Découverte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la page </a:t>
            </a:r>
            <a:r>
              <a:rPr lang="en-GB" dirty="0" err="1"/>
              <a:t>d'accueil</a:t>
            </a:r>
            <a:r>
              <a:rPr lang="en-GB" dirty="0"/>
              <a:t> avec les </a:t>
            </a:r>
            <a:r>
              <a:rPr lang="en-GB" dirty="0" err="1"/>
              <a:t>produits</a:t>
            </a:r>
            <a:r>
              <a:rPr lang="en-GB" dirty="0"/>
              <a:t> phares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parcourir</a:t>
            </a:r>
            <a:r>
              <a:rPr lang="en-GB" dirty="0"/>
              <a:t> le catalogue </a:t>
            </a:r>
            <a:r>
              <a:rPr lang="en-GB" dirty="0" err="1"/>
              <a:t>complet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filtrer</a:t>
            </a:r>
            <a:r>
              <a:rPr lang="en-GB" dirty="0"/>
              <a:t> les </a:t>
            </a:r>
            <a:r>
              <a:rPr lang="en-GB" dirty="0" err="1"/>
              <a:t>produits</a:t>
            </a:r>
            <a:r>
              <a:rPr lang="en-GB" dirty="0"/>
              <a:t> par </a:t>
            </a:r>
            <a:r>
              <a:rPr lang="en-GB" dirty="0" err="1"/>
              <a:t>producteur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rechercher</a:t>
            </a:r>
            <a:r>
              <a:rPr lang="en-GB" dirty="0"/>
              <a:t> un </a:t>
            </a:r>
            <a:r>
              <a:rPr lang="en-GB" dirty="0" err="1"/>
              <a:t>produit</a:t>
            </a:r>
            <a:r>
              <a:rPr lang="en-GB" dirty="0"/>
              <a:t> par nom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rechercher</a:t>
            </a:r>
            <a:r>
              <a:rPr lang="en-GB" dirty="0"/>
              <a:t> un </a:t>
            </a:r>
            <a:r>
              <a:rPr lang="en-GB" dirty="0" err="1"/>
              <a:t>producteur</a:t>
            </a:r>
            <a:r>
              <a:rPr lang="en-GB" dirty="0"/>
              <a:t> par nom</a:t>
            </a:r>
          </a:p>
          <a:p>
            <a:pPr marL="0" indent="0">
              <a:buNone/>
            </a:pPr>
            <a:r>
              <a:rPr lang="en-GB" dirty="0" err="1"/>
              <a:t>Produits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détails</a:t>
            </a:r>
            <a:r>
              <a:rPr lang="en-GB" dirty="0"/>
              <a:t> d'un </a:t>
            </a:r>
            <a:r>
              <a:rPr lang="en-GB" dirty="0" err="1"/>
              <a:t>produit</a:t>
            </a:r>
            <a:r>
              <a:rPr lang="en-GB" dirty="0"/>
              <a:t> (nom, prix, stock, </a:t>
            </a:r>
            <a:r>
              <a:rPr lang="en-GB" dirty="0" err="1"/>
              <a:t>producteur</a:t>
            </a:r>
            <a:r>
              <a:rPr lang="en-GB" dirty="0"/>
              <a:t>)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</a:t>
            </a:r>
            <a:r>
              <a:rPr lang="en-GB" dirty="0" err="1"/>
              <a:t>si</a:t>
            </a:r>
            <a:r>
              <a:rPr lang="en-GB" dirty="0"/>
              <a:t> un </a:t>
            </a:r>
            <a:r>
              <a:rPr lang="en-GB" dirty="0" err="1"/>
              <a:t>produit</a:t>
            </a:r>
            <a:r>
              <a:rPr lang="en-GB" dirty="0"/>
              <a:t> est </a:t>
            </a:r>
            <a:r>
              <a:rPr lang="en-GB" dirty="0" err="1"/>
              <a:t>en</a:t>
            </a:r>
            <a:r>
              <a:rPr lang="en-GB" dirty="0"/>
              <a:t> stock </a:t>
            </a:r>
            <a:r>
              <a:rPr lang="en-GB" dirty="0" err="1"/>
              <a:t>ou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rupture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similaires</a:t>
            </a:r>
            <a:r>
              <a:rPr lang="en-GB" dirty="0"/>
              <a:t> du </a:t>
            </a:r>
            <a:r>
              <a:rPr lang="en-GB" dirty="0" err="1"/>
              <a:t>même</a:t>
            </a:r>
            <a:r>
              <a:rPr lang="en-GB" dirty="0"/>
              <a:t> </a:t>
            </a:r>
            <a:r>
              <a:rPr lang="en-GB" dirty="0" err="1"/>
              <a:t>producteur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produits</a:t>
            </a:r>
            <a:r>
              <a:rPr lang="en-GB" dirty="0"/>
              <a:t> par </a:t>
            </a:r>
            <a:r>
              <a:rPr lang="en-GB" dirty="0" err="1"/>
              <a:t>catégorie</a:t>
            </a:r>
            <a:r>
              <a:rPr lang="en-GB" dirty="0"/>
              <a:t> (fruits, </a:t>
            </a:r>
            <a:r>
              <a:rPr lang="en-GB" dirty="0" err="1"/>
              <a:t>légumes</a:t>
            </a:r>
            <a:r>
              <a:rPr lang="en-GB" dirty="0"/>
              <a:t>, </a:t>
            </a:r>
            <a:r>
              <a:rPr lang="en-GB" dirty="0" err="1"/>
              <a:t>laitages</a:t>
            </a:r>
            <a:r>
              <a:rPr lang="en-GB" dirty="0"/>
              <a:t>, etc.)</a:t>
            </a:r>
          </a:p>
          <a:p>
            <a:pPr marL="0" indent="0">
              <a:buNone/>
            </a:pPr>
            <a:r>
              <a:rPr lang="en-GB" dirty="0" err="1"/>
              <a:t>Producteurs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la </a:t>
            </a:r>
            <a:r>
              <a:rPr lang="en-GB" dirty="0" err="1"/>
              <a:t>liste</a:t>
            </a:r>
            <a:r>
              <a:rPr lang="en-GB" dirty="0"/>
              <a:t> de </a:t>
            </a:r>
            <a:r>
              <a:rPr lang="en-GB" dirty="0" err="1"/>
              <a:t>tous</a:t>
            </a:r>
            <a:r>
              <a:rPr lang="en-GB" dirty="0"/>
              <a:t> les </a:t>
            </a:r>
            <a:r>
              <a:rPr lang="en-GB" dirty="0" err="1"/>
              <a:t>producteurs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 </a:t>
            </a:r>
            <a:r>
              <a:rPr lang="en-GB" dirty="0" err="1"/>
              <a:t>profil</a:t>
            </a:r>
            <a:r>
              <a:rPr lang="en-GB" dirty="0"/>
              <a:t> d'un </a:t>
            </a:r>
            <a:r>
              <a:rPr lang="en-GB" dirty="0" err="1"/>
              <a:t>producteur</a:t>
            </a:r>
            <a:r>
              <a:rPr lang="en-GB" dirty="0"/>
              <a:t> avec </a:t>
            </a:r>
            <a:r>
              <a:rPr lang="en-GB" dirty="0" err="1"/>
              <a:t>ses</a:t>
            </a:r>
            <a:r>
              <a:rPr lang="en-GB" dirty="0"/>
              <a:t> </a:t>
            </a:r>
            <a:r>
              <a:rPr lang="en-GB" dirty="0" err="1"/>
              <a:t>coordonnées</a:t>
            </a:r>
            <a:r>
              <a:rPr lang="en-GB" dirty="0"/>
              <a:t> –</a:t>
            </a:r>
          </a:p>
          <a:p>
            <a:pPr>
              <a:buFontTx/>
              <a:buChar char="-"/>
            </a:pPr>
            <a:r>
              <a:rPr lang="en-GB" dirty="0"/>
              <a:t>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</a:t>
            </a:r>
            <a:r>
              <a:rPr lang="en-GB" dirty="0" err="1"/>
              <a:t>tous</a:t>
            </a:r>
            <a:r>
              <a:rPr lang="en-GB" dirty="0"/>
              <a:t> les </a:t>
            </a:r>
            <a:r>
              <a:rPr lang="en-GB" dirty="0" err="1"/>
              <a:t>produits</a:t>
            </a:r>
            <a:r>
              <a:rPr lang="en-GB" dirty="0"/>
              <a:t> d'un </a:t>
            </a:r>
            <a:r>
              <a:rPr lang="en-GB" dirty="0" err="1"/>
              <a:t>producteur</a:t>
            </a:r>
            <a:r>
              <a:rPr lang="en-GB" dirty="0"/>
              <a:t> </a:t>
            </a:r>
            <a:r>
              <a:rPr lang="en-GB" dirty="0" err="1"/>
              <a:t>spécifique</a:t>
            </a:r>
            <a:r>
              <a:rPr lang="en-GB" dirty="0"/>
              <a:t> –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contacter</a:t>
            </a:r>
            <a:r>
              <a:rPr lang="en-GB" dirty="0"/>
              <a:t> un </a:t>
            </a:r>
            <a:r>
              <a:rPr lang="en-GB" dirty="0" err="1"/>
              <a:t>producteur</a:t>
            </a:r>
            <a:r>
              <a:rPr lang="en-GB" dirty="0"/>
              <a:t> via son email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00B6C4-43ED-9E5A-FCAD-3358FA6668F5}"/>
              </a:ext>
            </a:extLst>
          </p:cNvPr>
          <p:cNvSpPr txBox="1"/>
          <p:nvPr/>
        </p:nvSpPr>
        <p:spPr>
          <a:xfrm>
            <a:off x="6495046" y="1489871"/>
            <a:ext cx="553531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Panier</a:t>
            </a:r>
          </a:p>
          <a:p>
            <a:pPr>
              <a:buFontTx/>
              <a:buChar char="-"/>
            </a:pPr>
            <a:r>
              <a:rPr lang="en-GB" sz="1200" dirty="0"/>
              <a:t>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ajouter</a:t>
            </a:r>
            <a:r>
              <a:rPr lang="en-GB" sz="1200" dirty="0"/>
              <a:t> un </a:t>
            </a:r>
            <a:r>
              <a:rPr lang="en-GB" sz="1200" dirty="0" err="1"/>
              <a:t>produit</a:t>
            </a:r>
            <a:r>
              <a:rPr lang="en-GB" sz="1200" dirty="0"/>
              <a:t> au panier </a:t>
            </a:r>
          </a:p>
          <a:p>
            <a:pPr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 </a:t>
            </a:r>
            <a:r>
              <a:rPr lang="en-GB" sz="1200" dirty="0" err="1"/>
              <a:t>contenu</a:t>
            </a:r>
            <a:r>
              <a:rPr lang="en-GB" sz="1200" dirty="0"/>
              <a:t>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pPr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modifier la </a:t>
            </a:r>
            <a:r>
              <a:rPr lang="en-GB" sz="1200" dirty="0" err="1"/>
              <a:t>quantité</a:t>
            </a:r>
            <a:r>
              <a:rPr lang="en-GB" sz="1200" dirty="0"/>
              <a:t> d'un </a:t>
            </a:r>
            <a:r>
              <a:rPr lang="en-GB" sz="1200" dirty="0" err="1"/>
              <a:t>produit</a:t>
            </a:r>
            <a:r>
              <a:rPr lang="en-GB" sz="1200" dirty="0"/>
              <a:t> dans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retirer</a:t>
            </a:r>
            <a:r>
              <a:rPr lang="en-GB" sz="1200" dirty="0"/>
              <a:t> un </a:t>
            </a:r>
            <a:r>
              <a:rPr lang="en-GB" sz="1200" dirty="0" err="1"/>
              <a:t>produit</a:t>
            </a:r>
            <a:r>
              <a:rPr lang="en-GB" sz="1200" dirty="0"/>
              <a:t>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 total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vider</a:t>
            </a:r>
            <a:r>
              <a:rPr lang="en-GB" sz="1200" dirty="0"/>
              <a:t> </a:t>
            </a:r>
            <a:r>
              <a:rPr lang="en-GB" sz="1200" dirty="0" err="1"/>
              <a:t>entièrement</a:t>
            </a:r>
            <a:r>
              <a:rPr lang="en-GB" sz="1200" dirty="0"/>
              <a:t>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  <a:r>
              <a:rPr lang="en-GB" sz="1200" dirty="0" err="1"/>
              <a:t>persiste</a:t>
            </a:r>
            <a:r>
              <a:rPr lang="en-GB" sz="1200" dirty="0"/>
              <a:t> pendant ma session de navigation</a:t>
            </a:r>
          </a:p>
          <a:p>
            <a:pPr marL="285750" indent="-285750">
              <a:buFontTx/>
              <a:buChar char="-"/>
            </a:pPr>
            <a:endParaRPr lang="en-GB" sz="1200" dirty="0"/>
          </a:p>
          <a:p>
            <a:r>
              <a:rPr lang="en-GB" sz="1200" dirty="0"/>
              <a:t>Information &amp; Communication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accéder</a:t>
            </a:r>
            <a:r>
              <a:rPr lang="en-GB" sz="1200" dirty="0"/>
              <a:t> à la page "À </a:t>
            </a:r>
            <a:r>
              <a:rPr lang="en-GB" sz="1200" dirty="0" err="1"/>
              <a:t>propos</a:t>
            </a:r>
            <a:r>
              <a:rPr lang="en-GB" sz="1200" dirty="0"/>
              <a:t>" pour </a:t>
            </a:r>
            <a:r>
              <a:rPr lang="en-GB" sz="1200" dirty="0" err="1"/>
              <a:t>en</a:t>
            </a:r>
            <a:r>
              <a:rPr lang="en-GB" sz="1200" dirty="0"/>
              <a:t> savoir plus sur le Comptoir Local 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les </a:t>
            </a:r>
            <a:r>
              <a:rPr lang="en-GB" sz="1200" dirty="0" err="1"/>
              <a:t>valeurs</a:t>
            </a:r>
            <a:r>
              <a:rPr lang="en-GB" sz="1200" dirty="0"/>
              <a:t> de </a:t>
            </a:r>
            <a:r>
              <a:rPr lang="en-GB" sz="1200" dirty="0" err="1"/>
              <a:t>l'entreprise</a:t>
            </a:r>
            <a:r>
              <a:rPr lang="en-GB" sz="1200" dirty="0"/>
              <a:t> (local, </a:t>
            </a:r>
            <a:r>
              <a:rPr lang="en-GB" sz="1200" dirty="0" err="1"/>
              <a:t>qualité</a:t>
            </a:r>
            <a:r>
              <a:rPr lang="en-GB" sz="1200" dirty="0"/>
              <a:t>,  </a:t>
            </a:r>
            <a:r>
              <a:rPr lang="en-GB" sz="1200" dirty="0" err="1"/>
              <a:t>transparence</a:t>
            </a:r>
            <a:r>
              <a:rPr lang="en-GB" sz="1200" dirty="0"/>
              <a:t>)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les </a:t>
            </a:r>
            <a:r>
              <a:rPr lang="en-GB" sz="1200" dirty="0" err="1"/>
              <a:t>informations</a:t>
            </a:r>
            <a:r>
              <a:rPr lang="en-GB" sz="1200" dirty="0"/>
              <a:t> de contact du Comptoir Local</a:t>
            </a:r>
          </a:p>
          <a:p>
            <a:endParaRPr lang="en-FR" sz="1200" dirty="0"/>
          </a:p>
        </p:txBody>
      </p:sp>
    </p:spTree>
    <p:extLst>
      <p:ext uri="{BB962C8B-B14F-4D97-AF65-F5344CB8AC3E}">
        <p14:creationId xmlns:p14="http://schemas.microsoft.com/office/powerpoint/2010/main" val="1034346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841D1-C1C7-D685-8003-FE3449A66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WEEK 1 – Sprint 1 – Stack technologiques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13119-5CB5-DF50-6BB7-69AAE718E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Backend</a:t>
            </a:r>
            <a:r>
              <a:rPr lang="en-GB" dirty="0"/>
              <a:t> : Django 5.2.8</a:t>
            </a:r>
          </a:p>
          <a:p>
            <a:r>
              <a:rPr lang="en-GB" b="1" dirty="0"/>
              <a:t>Base de données</a:t>
            </a:r>
            <a:r>
              <a:rPr lang="en-GB" dirty="0"/>
              <a:t> : SQLite3</a:t>
            </a:r>
          </a:p>
          <a:p>
            <a:r>
              <a:rPr lang="en-GB" b="1" dirty="0"/>
              <a:t>Frontend</a:t>
            </a:r>
            <a:r>
              <a:rPr lang="en-GB" dirty="0"/>
              <a:t> : HTML5, Bootstrap 5.2.3, Bootstrap Icons</a:t>
            </a:r>
          </a:p>
          <a:p>
            <a:r>
              <a:rPr lang="en-GB" b="1" dirty="0"/>
              <a:t>Styling</a:t>
            </a:r>
            <a:r>
              <a:rPr lang="en-GB" dirty="0"/>
              <a:t> : CSS3 </a:t>
            </a:r>
            <a:r>
              <a:rPr lang="en-GB" dirty="0" err="1"/>
              <a:t>personnalisé</a:t>
            </a:r>
            <a:endParaRPr lang="en-GB" dirty="0"/>
          </a:p>
          <a:p>
            <a:r>
              <a:rPr lang="en-GB" b="1" dirty="0" err="1"/>
              <a:t>Langage</a:t>
            </a:r>
            <a:r>
              <a:rPr lang="en-GB" dirty="0"/>
              <a:t> : Python 3.x</a:t>
            </a:r>
          </a:p>
          <a:p>
            <a:pPr marL="0" indent="0">
              <a:buNone/>
            </a:pP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1851365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1427-2D6B-161E-3541-2956F266A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MVP Initial : Sans Html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5407583-811C-4C18-2747-0EDA52320E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0" y="2335086"/>
            <a:ext cx="10131425" cy="32625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DC67EC-0C36-1E03-75DB-66D3AD4AE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190" y="1466247"/>
            <a:ext cx="7772400" cy="250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056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9D8B2-D934-D459-B593-9126EFC90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E0625-6ACA-28A4-D179-EFEE72408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FR" dirty="0"/>
              <a:t>Sauvegarde du MVP dans le dépot</a:t>
            </a:r>
          </a:p>
          <a:p>
            <a:r>
              <a:rPr lang="en-FR" dirty="0"/>
              <a:t>Deployment sur Github: requirements.txt, version stable</a:t>
            </a:r>
          </a:p>
        </p:txBody>
      </p:sp>
    </p:spTree>
    <p:extLst>
      <p:ext uri="{BB962C8B-B14F-4D97-AF65-F5344CB8AC3E}">
        <p14:creationId xmlns:p14="http://schemas.microsoft.com/office/powerpoint/2010/main" val="11563152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89</TotalTime>
  <Words>972</Words>
  <Application>Microsoft Macintosh PowerPoint</Application>
  <PresentationFormat>Widescreen</PresentationFormat>
  <Paragraphs>99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Celestial</vt:lpstr>
      <vt:lpstr>Coding WeeksEquipe 5</vt:lpstr>
      <vt:lpstr>Sommaire</vt:lpstr>
      <vt:lpstr>Stratégie adoptée - Agenda</vt:lpstr>
      <vt:lpstr>Stratégie adoptée – Collaboration Git</vt:lpstr>
      <vt:lpstr>WEEK 1 – Sprint 0 – Analyse du problème  </vt:lpstr>
      <vt:lpstr>WEEK 1 – Sprint 0 – Réflexion autour de la conception</vt:lpstr>
      <vt:lpstr>WEEK 1 – Sprint 0 – Réflexion autour de la conception</vt:lpstr>
      <vt:lpstr>WEEK 1 – Sprint 1 – Stack technologiques </vt:lpstr>
      <vt:lpstr>MVP Initial : Sans Html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Riad Darwish</dc:creator>
  <cp:lastModifiedBy>Riad Darwish</cp:lastModifiedBy>
  <cp:revision>1</cp:revision>
  <cp:lastPrinted>2025-11-14T09:18:43Z</cp:lastPrinted>
  <dcterms:created xsi:type="dcterms:W3CDTF">2025-11-14T08:36:41Z</dcterms:created>
  <dcterms:modified xsi:type="dcterms:W3CDTF">2025-11-14T10:05:46Z</dcterms:modified>
</cp:coreProperties>
</file>